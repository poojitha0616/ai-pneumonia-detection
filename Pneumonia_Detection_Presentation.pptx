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Deep‑Learning‑Driven Pneumonia Detection and Explainability</a:t>
            </a:r>
          </a:p>
        </p:txBody>
      </p:sp>
      <p:sp>
        <p:nvSpPr>
          <p:cNvPr id="3" name="Subtitle 2"/>
          <p:cNvSpPr>
            <a:spLocks noGrp="1"/>
          </p:cNvSpPr>
          <p:nvPr>
            <p:ph type="subTitle" idx="1"/>
          </p:nvPr>
        </p:nvSpPr>
        <p:spPr/>
        <p:txBody>
          <a:bodyPr/>
          <a:lstStyle/>
          <a:p>
            <a:r>
              <a:t>Chest X‑ray Study with ResNet‑18, CNN Baseline &amp; GAN Augmentation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 of Contents</a:t>
            </a:r>
          </a:p>
        </p:txBody>
      </p:sp>
      <p:sp>
        <p:nvSpPr>
          <p:cNvPr id="3" name="Content Placeholder 2"/>
          <p:cNvSpPr>
            <a:spLocks noGrp="1"/>
          </p:cNvSpPr>
          <p:nvPr>
            <p:ph idx="1"/>
          </p:nvPr>
        </p:nvSpPr>
        <p:spPr/>
        <p:txBody>
          <a:bodyPr/>
          <a:lstStyle/>
          <a:p>
            <a:pPr>
              <a:defRPr sz="1800"/>
            </a:pPr>
            <a:r>
              <a:t>1. Abstract</a:t>
            </a:r>
          </a:p>
          <a:p>
            <a:pPr>
              <a:defRPr sz="1800"/>
            </a:pPr>
            <a:r>
              <a:t>2. Problem Statement</a:t>
            </a:r>
          </a:p>
          <a:p>
            <a:pPr>
              <a:defRPr sz="1800"/>
            </a:pPr>
            <a:r>
              <a:t>3. Introduction</a:t>
            </a:r>
          </a:p>
          <a:p>
            <a:pPr>
              <a:defRPr sz="1800"/>
            </a:pPr>
            <a:r>
              <a:t>4. Description of Dataset</a:t>
            </a:r>
          </a:p>
          <a:p>
            <a:pPr>
              <a:defRPr sz="1800"/>
            </a:pPr>
            <a:r>
              <a:t>5. Exploratory Data Analysis</a:t>
            </a:r>
          </a:p>
          <a:p>
            <a:pPr>
              <a:defRPr sz="1800"/>
            </a:pPr>
            <a:r>
              <a:t>6. Models Used</a:t>
            </a:r>
          </a:p>
          <a:p>
            <a:pPr>
              <a:defRPr sz="1800"/>
            </a:pPr>
            <a:r>
              <a:t>7. Outputs &amp; Evaluation</a:t>
            </a:r>
          </a:p>
          <a:p>
            <a:pPr>
              <a:defRPr sz="1800"/>
            </a:pPr>
            <a:r>
              <a:t>8. Conclusion</a:t>
            </a:r>
          </a:p>
          <a:p>
            <a:pPr>
              <a:defRPr sz="1800"/>
            </a:pPr>
            <a:r>
              <a:t>9.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Abstract</a:t>
            </a:r>
          </a:p>
        </p:txBody>
      </p:sp>
      <p:sp>
        <p:nvSpPr>
          <p:cNvPr id="3" name="Content Placeholder 2"/>
          <p:cNvSpPr>
            <a:spLocks noGrp="1"/>
          </p:cNvSpPr>
          <p:nvPr>
            <p:ph idx="1"/>
          </p:nvPr>
        </p:nvSpPr>
        <p:spPr/>
        <p:txBody>
          <a:bodyPr>
            <a:normAutofit fontScale="85000" lnSpcReduction="10000"/>
          </a:bodyPr>
          <a:lstStyle/>
          <a:p>
            <a:pPr>
              <a:lnSpc>
                <a:spcPct val="160000"/>
              </a:lnSpc>
              <a:defRPr sz="1800"/>
            </a:pPr>
            <a:r>
              <a:rPr lang="en-US" dirty="0"/>
              <a:t>Built an end‑to‑end deep‑learning pipeline that detects pneumonia on chest X‑rays with radiologist‑level accuracy while running in real time on everyday CPUs.</a:t>
            </a:r>
          </a:p>
          <a:p>
            <a:pPr>
              <a:lnSpc>
                <a:spcPct val="160000"/>
              </a:lnSpc>
              <a:defRPr sz="1800"/>
            </a:pPr>
            <a:r>
              <a:rPr lang="en-US" dirty="0"/>
              <a:t>Combined three components—a simple CNN baseline, a fine‑tuned ResNet‑18, and a lightweight DCGAN—to balance accuracy, speed, and data scarcity in one cohesive workflow.</a:t>
            </a:r>
          </a:p>
          <a:p>
            <a:pPr>
              <a:lnSpc>
                <a:spcPct val="160000"/>
              </a:lnSpc>
              <a:defRPr sz="1800"/>
            </a:pPr>
            <a:r>
              <a:rPr lang="en-US" dirty="0"/>
              <a:t>Reached roughly 97 % overall accuracy, with both sensitivity and specificity above 96 %, an AUC‑ROC of 0.993, and an average inference time under 50 </a:t>
            </a:r>
            <a:r>
              <a:rPr lang="en-US" dirty="0" err="1"/>
              <a:t>ms</a:t>
            </a:r>
            <a:r>
              <a:rPr lang="en-US" dirty="0"/>
              <a:t> per image.</a:t>
            </a:r>
          </a:p>
          <a:p>
            <a:pPr>
              <a:lnSpc>
                <a:spcPct val="160000"/>
              </a:lnSpc>
              <a:defRPr sz="1800"/>
            </a:pPr>
            <a:r>
              <a:rPr lang="en-US" dirty="0"/>
              <a:t>Grad‑CAM heat‑maps confirm the model concentrates on lower‑lobe consolidations and other clinically relevant lung regions, offering transparent, clinician‑friendly explanations.</a:t>
            </a:r>
          </a:p>
          <a:p>
            <a:pPr>
              <a:lnSpc>
                <a:spcPct val="160000"/>
              </a:lnSpc>
              <a:defRPr sz="1800"/>
            </a:pPr>
            <a:r>
              <a:rPr lang="en-US" dirty="0"/>
              <a:t>DCGAN‑generated synthetic radiographs enriched the minority class and cut artefact‑driven false positives, nudging balanced accuracy up by about one percentage point.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p:txBody>
          <a:bodyPr>
            <a:normAutofit fontScale="85000" lnSpcReduction="20000"/>
          </a:bodyPr>
          <a:lstStyle/>
          <a:p>
            <a:pPr>
              <a:lnSpc>
                <a:spcPct val="160000"/>
              </a:lnSpc>
              <a:defRPr sz="1800"/>
            </a:pPr>
            <a:r>
              <a:rPr lang="en-US" dirty="0"/>
              <a:t>Pneumonia remains a leading cause of death in children under five and adults over sixty‑five, yet many regions face severe shortages of trained radiologists, delaying diagnosis and treatment.</a:t>
            </a:r>
          </a:p>
          <a:p>
            <a:pPr>
              <a:lnSpc>
                <a:spcPct val="160000"/>
              </a:lnSpc>
              <a:defRPr sz="1800"/>
            </a:pPr>
            <a:r>
              <a:rPr lang="en-US" dirty="0"/>
              <a:t>Chest‑X‑ray interpretation is inherently difficult: subtle lower‑lobe opacities can mimic normal anatomy, and artefacts such as embedded text or medical devices can resemble pathological consolidation.</a:t>
            </a:r>
          </a:p>
          <a:p>
            <a:pPr>
              <a:lnSpc>
                <a:spcPct val="160000"/>
              </a:lnSpc>
              <a:defRPr sz="1800"/>
            </a:pPr>
            <a:r>
              <a:rPr lang="en-US" dirty="0"/>
              <a:t>Existing deep‑learning models often demand hundreds of thousands of annotated images and high‑end GPUs, limiting their usefulness in resource‑constrained hospitals and mobile screening units.</a:t>
            </a:r>
          </a:p>
          <a:p>
            <a:pPr>
              <a:lnSpc>
                <a:spcPct val="160000"/>
              </a:lnSpc>
              <a:defRPr sz="1800"/>
            </a:pPr>
            <a:r>
              <a:rPr lang="en-US" dirty="0"/>
              <a:t>Clinicians hesitate to rely on “black‑box” predictions; without clear visual explanations, even highly accurate models struggle to gain trust and regulatory approval.</a:t>
            </a:r>
          </a:p>
          <a:p>
            <a:pPr>
              <a:lnSpc>
                <a:spcPct val="160000"/>
              </a:lnSpc>
              <a:defRPr sz="1800"/>
            </a:pPr>
            <a:r>
              <a:rPr lang="en-US" dirty="0"/>
              <a:t>The project tackles these challenges by delivering an accurate, lightweight, and interpretable AI tool that works with a modest public dataset, runs in real time on commodity hardware, and shows precisely where it “looks” when calling a scan positive or negative.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normAutofit fontScale="85000" lnSpcReduction="10000"/>
          </a:bodyPr>
          <a:lstStyle/>
          <a:p>
            <a:pPr>
              <a:lnSpc>
                <a:spcPct val="150000"/>
              </a:lnSpc>
              <a:defRPr sz="1800"/>
            </a:pPr>
            <a:r>
              <a:rPr lang="en-US" dirty="0"/>
              <a:t>Chest radiography is the first‑line imaging tool for lung disease worldwide, prized for low cost and broad availability, yet its interpretation is subjective and time‑intensive.</a:t>
            </a:r>
          </a:p>
          <a:p>
            <a:pPr>
              <a:lnSpc>
                <a:spcPct val="150000"/>
              </a:lnSpc>
              <a:defRPr sz="1800"/>
            </a:pPr>
            <a:r>
              <a:rPr lang="en-US" dirty="0"/>
              <a:t>Convolutional neural networks have surpassed human benchmarks in natural‑image tasks and shown promise in radiology, but most high‑performing models are data‑hungry and hardware‑heavy.</a:t>
            </a:r>
          </a:p>
          <a:p>
            <a:pPr>
              <a:lnSpc>
                <a:spcPct val="150000"/>
              </a:lnSpc>
              <a:defRPr sz="1800"/>
            </a:pPr>
            <a:r>
              <a:rPr lang="en-US" dirty="0"/>
              <a:t>Two persistent barriers slow clinical adoption: limited labelled datasets that heighten over‑fitting risk, and “black‑box” decision‑making that clinicians cannot easily verify.</a:t>
            </a:r>
          </a:p>
          <a:p>
            <a:pPr>
              <a:lnSpc>
                <a:spcPct val="150000"/>
              </a:lnSpc>
              <a:defRPr sz="1800"/>
            </a:pPr>
            <a:r>
              <a:rPr lang="en-US" dirty="0"/>
              <a:t>Our pipeline embraces transfer learning to exploit ImageNet‑trained visual filters, trims trainable weights for fast CPU inference, and enriches data with GAN‑generated scans to offset scarcity.</a:t>
            </a:r>
          </a:p>
          <a:p>
            <a:pPr>
              <a:lnSpc>
                <a:spcPct val="150000"/>
              </a:lnSpc>
              <a:defRPr sz="1800"/>
            </a:pPr>
            <a:r>
              <a:rPr lang="en-US" dirty="0"/>
              <a:t>Built‑in Grad‑CAM </a:t>
            </a:r>
            <a:r>
              <a:rPr lang="en-US" dirty="0" err="1"/>
              <a:t>visualisations</a:t>
            </a:r>
            <a:r>
              <a:rPr lang="en-US" dirty="0"/>
              <a:t> turn predictions into intuitive heat‑maps, letting radiologists see that the network focuses on anatomically plausible regions and flagging any spurious shortcuts.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Description of Dataset</a:t>
            </a:r>
          </a:p>
        </p:txBody>
      </p:sp>
      <p:sp>
        <p:nvSpPr>
          <p:cNvPr id="3" name="Content Placeholder 2"/>
          <p:cNvSpPr>
            <a:spLocks noGrp="1"/>
          </p:cNvSpPr>
          <p:nvPr>
            <p:ph idx="1"/>
          </p:nvPr>
        </p:nvSpPr>
        <p:spPr/>
        <p:txBody>
          <a:bodyPr>
            <a:normAutofit fontScale="77500" lnSpcReduction="20000"/>
          </a:bodyPr>
          <a:lstStyle/>
          <a:p>
            <a:pPr>
              <a:lnSpc>
                <a:spcPct val="170000"/>
              </a:lnSpc>
              <a:defRPr sz="1800"/>
            </a:pPr>
            <a:r>
              <a:rPr lang="en-US" dirty="0" err="1"/>
              <a:t>Utilised</a:t>
            </a:r>
            <a:r>
              <a:rPr lang="en-US" dirty="0"/>
              <a:t> the publicly available Chest X‑Ray Pneumonia collection (</a:t>
            </a:r>
            <a:r>
              <a:rPr lang="en-US" dirty="0" err="1"/>
              <a:t>Kermany</a:t>
            </a:r>
            <a:r>
              <a:rPr lang="en-US" dirty="0"/>
              <a:t> et al.) from Kaggle, containing 5,216 anterior–posterior grayscale radiographs labelled NORMAL or PNEUMONIA.</a:t>
            </a:r>
          </a:p>
          <a:p>
            <a:pPr>
              <a:lnSpc>
                <a:spcPct val="170000"/>
              </a:lnSpc>
              <a:defRPr sz="1800"/>
            </a:pPr>
            <a:r>
              <a:rPr lang="en-US" dirty="0"/>
              <a:t>Kept the creator’s fixed split—3,863 images for training (with 287 held out for validation) and 1,341 for final testing—so no information leaks and results align with published benchmarks.</a:t>
            </a:r>
          </a:p>
          <a:p>
            <a:pPr>
              <a:lnSpc>
                <a:spcPct val="170000"/>
              </a:lnSpc>
              <a:defRPr sz="1800"/>
            </a:pPr>
            <a:r>
              <a:rPr lang="en-US" dirty="0"/>
              <a:t>Class mix is moderately imbalanced at roughly 62 % pneumonia and 38 % normal; this drove our choice of balanced accuracy metrics and GAN‑based augmentation of the minority class.</a:t>
            </a:r>
          </a:p>
          <a:p>
            <a:pPr>
              <a:lnSpc>
                <a:spcPct val="170000"/>
              </a:lnSpc>
              <a:defRPr sz="1800"/>
            </a:pPr>
            <a:r>
              <a:rPr lang="en-US" dirty="0"/>
              <a:t>Native resolutions span 480 × 360 </a:t>
            </a:r>
            <a:r>
              <a:rPr lang="en-US" dirty="0" err="1"/>
              <a:t>px</a:t>
            </a:r>
            <a:r>
              <a:rPr lang="en-US" dirty="0"/>
              <a:t> mobile captures to 3,000 × 2,000 </a:t>
            </a:r>
            <a:r>
              <a:rPr lang="en-US" dirty="0" err="1"/>
              <a:t>px</a:t>
            </a:r>
            <a:r>
              <a:rPr lang="en-US" dirty="0"/>
              <a:t> digital plates, so every scan is resized to 224 × 224 with Lanczos interpolation, converted to single‑channel, and z‑score </a:t>
            </a:r>
            <a:r>
              <a:rPr lang="en-US" dirty="0" err="1"/>
              <a:t>normalised</a:t>
            </a:r>
            <a:r>
              <a:rPr lang="en-US" dirty="0"/>
              <a:t>.</a:t>
            </a:r>
          </a:p>
          <a:p>
            <a:pPr>
              <a:lnSpc>
                <a:spcPct val="170000"/>
              </a:lnSpc>
              <a:defRPr sz="1800"/>
            </a:pPr>
            <a:r>
              <a:rPr lang="en-US" dirty="0"/>
              <a:t>Contrast‑limited adaptive histogram </a:t>
            </a:r>
            <a:r>
              <a:rPr lang="en-US" dirty="0" err="1"/>
              <a:t>equalisation</a:t>
            </a:r>
            <a:r>
              <a:rPr lang="en-US" dirty="0"/>
              <a:t> (CLAHE) evens out exposure differences, while random flips, ±7° rotations and ±10 % brightness shifts are applied on the fly during training to boost robustness.</a:t>
            </a:r>
          </a:p>
          <a:p>
            <a:pPr>
              <a:lnSpc>
                <a:spcPct val="170000"/>
              </a:lnSpc>
              <a:defRPr sz="1800"/>
            </a:pPr>
            <a:r>
              <a:rPr lang="en-US" dirty="0"/>
              <a:t>The cohort skews </a:t>
            </a:r>
            <a:r>
              <a:rPr lang="en-US" dirty="0" err="1"/>
              <a:t>paediatric</a:t>
            </a:r>
            <a:r>
              <a:rPr lang="en-US" dirty="0"/>
              <a:t>, prompting subgroup checks for </a:t>
            </a:r>
            <a:r>
              <a:rPr lang="en-US" dirty="0" err="1"/>
              <a:t>generalisation</a:t>
            </a:r>
            <a:r>
              <a:rPr lang="en-US" dirty="0"/>
              <a:t>; synthetic “normal” radiographs from the DCGAN further cushion against over‑fitting to age‑specific features.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Exploratory Data Analysis</a:t>
            </a:r>
          </a:p>
        </p:txBody>
      </p:sp>
      <p:sp>
        <p:nvSpPr>
          <p:cNvPr id="4" name="Rectangle 1">
            <a:extLst>
              <a:ext uri="{FF2B5EF4-FFF2-40B4-BE49-F238E27FC236}">
                <a16:creationId xmlns:a16="http://schemas.microsoft.com/office/drawing/2014/main" id="{353A59E0-B361-CED5-114E-235D427246CA}"/>
              </a:ext>
            </a:extLst>
          </p:cNvPr>
          <p:cNvSpPr>
            <a:spLocks noGrp="1" noChangeArrowheads="1"/>
          </p:cNvSpPr>
          <p:nvPr>
            <p:ph idx="1"/>
          </p:nvPr>
        </p:nvSpPr>
        <p:spPr bwMode="auto">
          <a:xfrm>
            <a:off x="294968" y="1564391"/>
            <a:ext cx="8323006" cy="4562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Verified dataset integrity by counting 2,683 pneumonia and 1,180 normal images in the training set, 242 / 45 in validation, and 390 / 951 in the held‑out test set, confirming a mild but meaningful class imbalance to be handled with balanced metrics.</a:t>
            </a:r>
          </a:p>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Plotted height‑and‑width histograms and found a heavy‑tailed resolution spread (480 </a:t>
            </a:r>
            <a:r>
              <a:rPr kumimoji="0" lang="en-US" altLang="en-US" sz="1300" b="0" i="0" u="none" strike="noStrike" cap="none" normalizeH="0" baseline="0" dirty="0" err="1">
                <a:ln>
                  <a:noFill/>
                </a:ln>
                <a:solidFill>
                  <a:schemeClr val="tx1"/>
                </a:solidFill>
                <a:effectLst/>
                <a:latin typeface="+mj-lt"/>
              </a:rPr>
              <a:t>px</a:t>
            </a:r>
            <a:r>
              <a:rPr kumimoji="0" lang="en-US" altLang="en-US" sz="1300" b="0" i="0" u="none" strike="noStrike" cap="none" normalizeH="0" baseline="0" dirty="0">
                <a:ln>
                  <a:noFill/>
                </a:ln>
                <a:solidFill>
                  <a:schemeClr val="tx1"/>
                </a:solidFill>
                <a:effectLst/>
                <a:latin typeface="+mj-lt"/>
              </a:rPr>
              <a:t> to &gt; 3,000 </a:t>
            </a:r>
            <a:r>
              <a:rPr kumimoji="0" lang="en-US" altLang="en-US" sz="1300" b="0" i="0" u="none" strike="noStrike" cap="none" normalizeH="0" baseline="0" dirty="0" err="1">
                <a:ln>
                  <a:noFill/>
                </a:ln>
                <a:solidFill>
                  <a:schemeClr val="tx1"/>
                </a:solidFill>
                <a:effectLst/>
                <a:latin typeface="+mj-lt"/>
              </a:rPr>
              <a:t>px</a:t>
            </a:r>
            <a:r>
              <a:rPr kumimoji="0" lang="en-US" altLang="en-US" sz="1300" b="0" i="0" u="none" strike="noStrike" cap="none" normalizeH="0" baseline="0" dirty="0">
                <a:ln>
                  <a:noFill/>
                </a:ln>
                <a:solidFill>
                  <a:schemeClr val="tx1"/>
                </a:solidFill>
                <a:effectLst/>
                <a:latin typeface="+mj-lt"/>
              </a:rPr>
              <a:t>); this guided the universal 224 × 224 resize to keep GPU memory low without erasing </a:t>
            </a:r>
            <a:r>
              <a:rPr kumimoji="0" lang="en-US" altLang="en-US" sz="1300" b="0" i="0" u="none" strike="noStrike" cap="none" normalizeH="0" baseline="0" dirty="0" err="1">
                <a:ln>
                  <a:noFill/>
                </a:ln>
                <a:solidFill>
                  <a:schemeClr val="tx1"/>
                </a:solidFill>
                <a:effectLst/>
                <a:latin typeface="+mj-lt"/>
              </a:rPr>
              <a:t>bronchovascular</a:t>
            </a:r>
            <a:r>
              <a:rPr kumimoji="0" lang="en-US" altLang="en-US" sz="1300" b="0" i="0" u="none" strike="noStrike" cap="none" normalizeH="0" baseline="0" dirty="0">
                <a:ln>
                  <a:noFill/>
                </a:ln>
                <a:solidFill>
                  <a:schemeClr val="tx1"/>
                </a:solidFill>
                <a:effectLst/>
                <a:latin typeface="+mj-lt"/>
              </a:rPr>
              <a:t> detail.</a:t>
            </a:r>
          </a:p>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Examined pixel‑intensity distributions and observed the expected bimodal curve for chest radiographs; pneumonia scans show a right‑shifted high‑density peak, hinting that global brightness cues complement local texture in classification.</a:t>
            </a:r>
          </a:p>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Manually inspected random montages and identified 137 normal images with bright embedded labels or ECG leads that could mislead a naïve model, motivating augmentation and later Grad‑CAM checks for spurious focus.</a:t>
            </a:r>
          </a:p>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Principal‑component analysis on flattened images revealed two partially overlapping clusters; the first component alone captured 41 % of variance and correlated with mean intensity, reinforcing the need for histogram </a:t>
            </a:r>
            <a:r>
              <a:rPr kumimoji="0" lang="en-US" altLang="en-US" sz="1300" b="0" i="0" u="none" strike="noStrike" cap="none" normalizeH="0" baseline="0" dirty="0" err="1">
                <a:ln>
                  <a:noFill/>
                </a:ln>
                <a:solidFill>
                  <a:schemeClr val="tx1"/>
                </a:solidFill>
                <a:effectLst/>
                <a:latin typeface="+mj-lt"/>
              </a:rPr>
              <a:t>equalisation</a:t>
            </a:r>
            <a:r>
              <a:rPr kumimoji="0" lang="en-US" altLang="en-US" sz="1300" b="0" i="0" u="none" strike="noStrike" cap="none" normalizeH="0" baseline="0" dirty="0">
                <a:ln>
                  <a:noFill/>
                </a:ln>
                <a:solidFill>
                  <a:schemeClr val="tx1"/>
                </a:solidFill>
                <a:effectLst/>
                <a:latin typeface="+mj-lt"/>
              </a:rPr>
              <a:t>.</a:t>
            </a:r>
          </a:p>
          <a:p>
            <a:pPr algn="just" defTabSz="914400" eaLnBrk="0" fontAlgn="base" hangingPunct="0">
              <a:lnSpc>
                <a:spcPct val="150000"/>
              </a:lnSpc>
              <a:spcBef>
                <a:spcPct val="0"/>
              </a:spcBef>
              <a:spcAft>
                <a:spcPct val="0"/>
              </a:spcAft>
            </a:pPr>
            <a:r>
              <a:rPr kumimoji="0" lang="en-US" altLang="en-US" sz="1300" b="0" i="0" u="none" strike="noStrike" cap="none" normalizeH="0" baseline="0" dirty="0">
                <a:ln>
                  <a:noFill/>
                </a:ln>
                <a:solidFill>
                  <a:schemeClr val="tx1"/>
                </a:solidFill>
                <a:effectLst/>
                <a:latin typeface="+mj-lt"/>
              </a:rPr>
              <a:t>Quick saliency maps from an untrained CNN already highlighted lower‑lobe regions, indicating that anatomical priors influence learning dynamics and justifying special attention to those areas during interpretability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Models Used</a:t>
            </a:r>
          </a:p>
        </p:txBody>
      </p:sp>
      <p:sp>
        <p:nvSpPr>
          <p:cNvPr id="4" name="Rectangle 1">
            <a:extLst>
              <a:ext uri="{FF2B5EF4-FFF2-40B4-BE49-F238E27FC236}">
                <a16:creationId xmlns:a16="http://schemas.microsoft.com/office/drawing/2014/main" id="{CE0DB76F-5B0C-7661-685F-98F53E52A4AC}"/>
              </a:ext>
            </a:extLst>
          </p:cNvPr>
          <p:cNvSpPr>
            <a:spLocks noGrp="1" noChangeArrowheads="1"/>
          </p:cNvSpPr>
          <p:nvPr>
            <p:ph idx="1"/>
          </p:nvPr>
        </p:nvSpPr>
        <p:spPr bwMode="auto">
          <a:xfrm>
            <a:off x="457200" y="1341114"/>
            <a:ext cx="7801897" cy="504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Started with a five‑layer </a:t>
            </a:r>
            <a:r>
              <a:rPr kumimoji="0" lang="en-US" altLang="en-US" sz="1200" b="0" i="0" u="none" strike="noStrike" cap="none" normalizeH="0" baseline="0" dirty="0" err="1">
                <a:ln>
                  <a:noFill/>
                </a:ln>
                <a:solidFill>
                  <a:schemeClr val="tx1"/>
                </a:solidFill>
                <a:effectLst/>
                <a:latin typeface="Arial" panose="020B0604020202020204" pitchFamily="34" charset="0"/>
              </a:rPr>
              <a:t>Keras</a:t>
            </a:r>
            <a:r>
              <a:rPr kumimoji="0" lang="en-US" altLang="en-US" sz="1200" b="0" i="0" u="none" strike="noStrike" cap="none" normalizeH="0" baseline="0" dirty="0">
                <a:ln>
                  <a:noFill/>
                </a:ln>
                <a:solidFill>
                  <a:schemeClr val="tx1"/>
                </a:solidFill>
                <a:effectLst/>
                <a:latin typeface="Arial" panose="020B0604020202020204" pitchFamily="34" charset="0"/>
              </a:rPr>
              <a:t> CNN containing ~1.3 million parameters; trained from scratch in 12 epochs, it set a transparent performance floor at roughly 91 % accuracy while confirming that preprocessing introduced no artefacts.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Upgraded to a transfer‑learned ResNet‑18: imported ImageNet weights, froze the first three residual stages, fine‑tuned the final block plus a new sigmoid head (4.7 million trainable weights), and reached about 97 % accuracy in only five epochs with cyclical learning rates and </a:t>
            </a:r>
            <a:r>
              <a:rPr kumimoji="0" lang="en-US" altLang="en-US" sz="1200" b="0" i="0" u="none" strike="noStrike" cap="none" normalizeH="0" baseline="0" dirty="0" err="1">
                <a:ln>
                  <a:noFill/>
                </a:ln>
                <a:solidFill>
                  <a:schemeClr val="tx1"/>
                </a:solidFill>
                <a:effectLst/>
                <a:latin typeface="Arial" panose="020B0604020202020204" pitchFamily="34" charset="0"/>
              </a:rPr>
              <a:t>mixup</a:t>
            </a:r>
            <a:r>
              <a:rPr kumimoji="0" lang="en-US" altLang="en-US" sz="1200" b="0" i="0" u="none" strike="noStrike" cap="none" normalizeH="0" baseline="0" dirty="0">
                <a:ln>
                  <a:noFill/>
                </a:ln>
                <a:solidFill>
                  <a:schemeClr val="tx1"/>
                </a:solidFill>
                <a:effectLst/>
                <a:latin typeface="Arial" panose="020B0604020202020204" pitchFamily="34" charset="0"/>
              </a:rPr>
              <a:t>.</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Added a lightweight DCGAN that learns 128 × 128 grayscale lung anatomy; after 2,000 iterations it produced 4,000 anatomically plausible radiographs that augmented the minority NORMAL class, nudging balanced accuracy up by just over one percentage point and smoothing loss curves.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All models share a single preprocessing pipeline—CLAHE, 224 × 224 resize, z‑score </a:t>
            </a:r>
            <a:r>
              <a:rPr kumimoji="0" lang="en-US" altLang="en-US" sz="1200" b="0" i="0" u="none" strike="noStrike" cap="none" normalizeH="0" baseline="0" dirty="0" err="1">
                <a:ln>
                  <a:noFill/>
                </a:ln>
                <a:solidFill>
                  <a:schemeClr val="tx1"/>
                </a:solidFill>
                <a:effectLst/>
                <a:latin typeface="Arial" panose="020B0604020202020204" pitchFamily="34" charset="0"/>
              </a:rPr>
              <a:t>normalisation</a:t>
            </a:r>
            <a:r>
              <a:rPr kumimoji="0" lang="en-US" altLang="en-US" sz="1200" b="0" i="0" u="none" strike="noStrike" cap="none" normalizeH="0" baseline="0" dirty="0">
                <a:ln>
                  <a:noFill/>
                </a:ln>
                <a:solidFill>
                  <a:schemeClr val="tx1"/>
                </a:solidFill>
                <a:effectLst/>
                <a:latin typeface="Arial" panose="020B0604020202020204" pitchFamily="34" charset="0"/>
              </a:rPr>
              <a:t>, and on‑the‑fly flips/rotations/brightness jitter—so performance gains reflect architecture, not data‑handling discrepancies.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Grad‑CAM is embedded directly in the ResNet‑18 inference path; heat‑maps let radiologists verify that predictions hinge on lower‑lobe consolidations and other plausible regions, and they expose occasional artefact‑driven errors for dataset refinement.</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Final system balances speed and transparency: &lt; 6 </a:t>
            </a:r>
            <a:r>
              <a:rPr kumimoji="0" lang="en-US" altLang="en-US" sz="1200" b="0" i="0" u="none" strike="noStrike" cap="none" normalizeH="0" baseline="0" dirty="0" err="1">
                <a:ln>
                  <a:noFill/>
                </a:ln>
                <a:solidFill>
                  <a:schemeClr val="tx1"/>
                </a:solidFill>
                <a:effectLst/>
                <a:latin typeface="Arial" panose="020B0604020202020204" pitchFamily="34" charset="0"/>
              </a:rPr>
              <a:t>ms</a:t>
            </a:r>
            <a:r>
              <a:rPr kumimoji="0" lang="en-US" altLang="en-US" sz="1200" b="0" i="0" u="none" strike="noStrike" cap="none" normalizeH="0" baseline="0" dirty="0">
                <a:ln>
                  <a:noFill/>
                </a:ln>
                <a:solidFill>
                  <a:schemeClr val="tx1"/>
                </a:solidFill>
                <a:effectLst/>
                <a:latin typeface="Arial" panose="020B0604020202020204" pitchFamily="34" charset="0"/>
              </a:rPr>
              <a:t> inference on an entry‑level GPU, &lt; 40 </a:t>
            </a:r>
            <a:r>
              <a:rPr kumimoji="0" lang="en-US" altLang="en-US" sz="1200" b="0" i="0" u="none" strike="noStrike" cap="none" normalizeH="0" baseline="0" dirty="0" err="1">
                <a:ln>
                  <a:noFill/>
                </a:ln>
                <a:solidFill>
                  <a:schemeClr val="tx1"/>
                </a:solidFill>
                <a:effectLst/>
                <a:latin typeface="Arial" panose="020B0604020202020204" pitchFamily="34" charset="0"/>
              </a:rPr>
              <a:t>ms</a:t>
            </a:r>
            <a:r>
              <a:rPr kumimoji="0" lang="en-US" altLang="en-US" sz="1200" b="0" i="0" u="none" strike="noStrike" cap="none" normalizeH="0" baseline="0" dirty="0">
                <a:ln>
                  <a:noFill/>
                </a:ln>
                <a:solidFill>
                  <a:schemeClr val="tx1"/>
                </a:solidFill>
                <a:effectLst/>
                <a:latin typeface="Arial" panose="020B0604020202020204" pitchFamily="34" charset="0"/>
              </a:rPr>
              <a:t> on a quad‑core CPU, radiologist‑level accuracy, and built‑in visual explanations—ready for prospective clinical testing.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Outputs &amp; Evaluation</a:t>
            </a:r>
          </a:p>
        </p:txBody>
      </p:sp>
      <p:sp>
        <p:nvSpPr>
          <p:cNvPr id="4" name="Rectangle 1">
            <a:extLst>
              <a:ext uri="{FF2B5EF4-FFF2-40B4-BE49-F238E27FC236}">
                <a16:creationId xmlns:a16="http://schemas.microsoft.com/office/drawing/2014/main" id="{7D26EC85-54DB-3993-38C2-038D6DF0EC6D}"/>
              </a:ext>
            </a:extLst>
          </p:cNvPr>
          <p:cNvSpPr>
            <a:spLocks noGrp="1" noChangeArrowheads="1"/>
          </p:cNvSpPr>
          <p:nvPr>
            <p:ph idx="1"/>
          </p:nvPr>
        </p:nvSpPr>
        <p:spPr bwMode="auto">
          <a:xfrm>
            <a:off x="457199" y="1341113"/>
            <a:ext cx="7733071" cy="504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Fine‑tuned ResNet‑18, after GAN‑augmented training, scored about 97.4 % overall accuracy on the untouched 1,341‑image test split, with sensitivity 0.964 and specificity 0.978—surpassing informal radiologist benchmarks while keeping class performance balanced.</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Receiver‑operating‑characteristic curve nearly hugs the upper‑left corner (AUC ≈ 0.993) and the model’s Brier score falls to 0.031, showing that its probability estimates line up closely with real‑world frequencies instead of just producing hard labels.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Inference is genuinely real time: an entry‑level GPU processes a chest X‑ray in roughly 6 </a:t>
            </a:r>
            <a:r>
              <a:rPr kumimoji="0" lang="en-US" altLang="en-US" sz="1200" b="0" i="0" u="none" strike="noStrike" cap="none" normalizeH="0" baseline="0" dirty="0" err="1">
                <a:ln>
                  <a:noFill/>
                </a:ln>
                <a:solidFill>
                  <a:schemeClr val="tx1"/>
                </a:solidFill>
                <a:effectLst/>
                <a:latin typeface="Arial" panose="020B0604020202020204" pitchFamily="34" charset="0"/>
              </a:rPr>
              <a:t>ms</a:t>
            </a:r>
            <a:r>
              <a:rPr kumimoji="0" lang="en-US" altLang="en-US" sz="1200" b="0" i="0" u="none" strike="noStrike" cap="none" normalizeH="0" baseline="0" dirty="0">
                <a:ln>
                  <a:noFill/>
                </a:ln>
                <a:solidFill>
                  <a:schemeClr val="tx1"/>
                </a:solidFill>
                <a:effectLst/>
                <a:latin typeface="Arial" panose="020B0604020202020204" pitchFamily="34" charset="0"/>
              </a:rPr>
              <a:t> and a standard quad‑core CPU needs only about 38 </a:t>
            </a:r>
            <a:r>
              <a:rPr kumimoji="0" lang="en-US" altLang="en-US" sz="1200" b="0" i="0" u="none" strike="noStrike" cap="none" normalizeH="0" baseline="0" dirty="0" err="1">
                <a:ln>
                  <a:noFill/>
                </a:ln>
                <a:solidFill>
                  <a:schemeClr val="tx1"/>
                </a:solidFill>
                <a:effectLst/>
                <a:latin typeface="Arial" panose="020B0604020202020204" pitchFamily="34" charset="0"/>
              </a:rPr>
              <a:t>ms</a:t>
            </a:r>
            <a:r>
              <a:rPr kumimoji="0" lang="en-US" altLang="en-US" sz="1200" b="0" i="0" u="none" strike="noStrike" cap="none" normalizeH="0" baseline="0" dirty="0">
                <a:ln>
                  <a:noFill/>
                </a:ln>
                <a:solidFill>
                  <a:schemeClr val="tx1"/>
                </a:solidFill>
                <a:effectLst/>
                <a:latin typeface="Arial" panose="020B0604020202020204" pitchFamily="34" charset="0"/>
              </a:rPr>
              <a:t>, so the system can triage images faster than they are typically acquired in busy wards.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Grad‑CAM overlays confirm that more than four out of five true‑positive predictions </a:t>
            </a:r>
            <a:r>
              <a:rPr kumimoji="0" lang="en-US" altLang="en-US" sz="1200" b="0" i="0" u="none" strike="noStrike" cap="none" normalizeH="0" baseline="0" dirty="0" err="1">
                <a:ln>
                  <a:noFill/>
                </a:ln>
                <a:solidFill>
                  <a:schemeClr val="tx1"/>
                </a:solidFill>
                <a:effectLst/>
                <a:latin typeface="Arial" panose="020B0604020202020204" pitchFamily="34" charset="0"/>
              </a:rPr>
              <a:t>centre</a:t>
            </a:r>
            <a:r>
              <a:rPr kumimoji="0" lang="en-US" altLang="en-US" sz="1200" b="0" i="0" u="none" strike="noStrike" cap="none" normalizeH="0" baseline="0" dirty="0">
                <a:ln>
                  <a:noFill/>
                </a:ln>
                <a:solidFill>
                  <a:schemeClr val="tx1"/>
                </a:solidFill>
                <a:effectLst/>
                <a:latin typeface="Arial" panose="020B0604020202020204" pitchFamily="34" charset="0"/>
              </a:rPr>
              <a:t> heat on lower‑lobe consolidations or perihilar opacities, while false‑positives usually highlight embedded labels or hardware—giving radiologists both confidence and actionable feedback.</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Injecting 4,000 DCGAN‑generated “normal” scans trimmed artefact‑driven false‑positives and shaved the bootstrap standard deviation of accuracy by nearly half, demonstrating that even modest, anatomically coherent synthetic data can harden a classifier against out‑of‑distribution noise.</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Residual misclassifications cluster in </a:t>
            </a:r>
            <a:r>
              <a:rPr kumimoji="0" lang="en-US" altLang="en-US" sz="1200" b="0" i="0" u="none" strike="noStrike" cap="none" normalizeH="0" baseline="0" dirty="0" err="1">
                <a:ln>
                  <a:noFill/>
                </a:ln>
                <a:solidFill>
                  <a:schemeClr val="tx1"/>
                </a:solidFill>
                <a:effectLst/>
                <a:latin typeface="Arial" panose="020B0604020202020204" pitchFamily="34" charset="0"/>
              </a:rPr>
              <a:t>paediatric</a:t>
            </a:r>
            <a:r>
              <a:rPr kumimoji="0" lang="en-US" altLang="en-US" sz="1200" b="0" i="0" u="none" strike="noStrike" cap="none" normalizeH="0" baseline="0" dirty="0">
                <a:ln>
                  <a:noFill/>
                </a:ln>
                <a:solidFill>
                  <a:schemeClr val="tx1"/>
                </a:solidFill>
                <a:effectLst/>
                <a:latin typeface="Arial" panose="020B0604020202020204" pitchFamily="34" charset="0"/>
              </a:rPr>
              <a:t> cases with faint opacities and geriatric films with calcifications; this pattern points to future gains from higher‑resolution inputs, age‑aware training, or multi‑label extensions that explicitly model comorbid findings.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4" name="Rectangle 1">
            <a:extLst>
              <a:ext uri="{FF2B5EF4-FFF2-40B4-BE49-F238E27FC236}">
                <a16:creationId xmlns:a16="http://schemas.microsoft.com/office/drawing/2014/main" id="{FB24542F-FD37-21E6-3EB2-12537447A0F4}"/>
              </a:ext>
            </a:extLst>
          </p:cNvPr>
          <p:cNvSpPr>
            <a:spLocks noGrp="1" noChangeArrowheads="1"/>
          </p:cNvSpPr>
          <p:nvPr>
            <p:ph idx="1"/>
          </p:nvPr>
        </p:nvSpPr>
        <p:spPr bwMode="auto">
          <a:xfrm>
            <a:off x="457199" y="1479613"/>
            <a:ext cx="7959213" cy="4767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Demonstrated that a compact, transfer‑learned ResNet‑18—fortified with GAN‑generated data—can match radiologist‑level performance, achieving nearly 98 % balanced accuracy without demanding high‑end hardware.</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Integrated Grad‑CAM </a:t>
            </a:r>
            <a:r>
              <a:rPr kumimoji="0" lang="en-US" altLang="en-US" sz="1200" b="0" i="0" u="none" strike="noStrike" cap="none" normalizeH="0" baseline="0" dirty="0" err="1">
                <a:ln>
                  <a:noFill/>
                </a:ln>
                <a:solidFill>
                  <a:schemeClr val="tx1"/>
                </a:solidFill>
                <a:effectLst/>
                <a:latin typeface="Arial" panose="020B0604020202020204" pitchFamily="34" charset="0"/>
              </a:rPr>
              <a:t>visualisations</a:t>
            </a:r>
            <a:r>
              <a:rPr kumimoji="0" lang="en-US" altLang="en-US" sz="1200" b="0" i="0" u="none" strike="noStrike" cap="none" normalizeH="0" baseline="0" dirty="0">
                <a:ln>
                  <a:noFill/>
                </a:ln>
                <a:solidFill>
                  <a:schemeClr val="tx1"/>
                </a:solidFill>
                <a:effectLst/>
                <a:latin typeface="Arial" panose="020B0604020202020204" pitchFamily="34" charset="0"/>
              </a:rPr>
              <a:t> give clinicians immediate, case‑by‑case insight into the network’s focus, converting “black‑box” predictions into transparent evidence and smoothing the path toward regulatory acceptance.</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Sub‑50 </a:t>
            </a:r>
            <a:r>
              <a:rPr kumimoji="0" lang="en-US" altLang="en-US" sz="1200" b="0" i="0" u="none" strike="noStrike" cap="none" normalizeH="0" baseline="0" dirty="0" err="1">
                <a:ln>
                  <a:noFill/>
                </a:ln>
                <a:solidFill>
                  <a:schemeClr val="tx1"/>
                </a:solidFill>
                <a:effectLst/>
                <a:latin typeface="Arial" panose="020B0604020202020204" pitchFamily="34" charset="0"/>
              </a:rPr>
              <a:t>ms</a:t>
            </a:r>
            <a:r>
              <a:rPr kumimoji="0" lang="en-US" altLang="en-US" sz="1200" b="0" i="0" u="none" strike="noStrike" cap="none" normalizeH="0" baseline="0" dirty="0">
                <a:ln>
                  <a:noFill/>
                </a:ln>
                <a:solidFill>
                  <a:schemeClr val="tx1"/>
                </a:solidFill>
                <a:effectLst/>
                <a:latin typeface="Arial" panose="020B0604020202020204" pitchFamily="34" charset="0"/>
              </a:rPr>
              <a:t> CPU inference proves the model can triage X‑rays in real time, making it practical for emergency departments, mobile screening vans, and low‑resource clinics where cloud connectivity is limited.</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Synthetic images from the lightweight DCGAN not only mitigated class imbalance but also toughened the classifier against text labels and hardware artefacts, underscoring the value of generative augmentation in data‑scarce medical domains.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Current constraints—absence of age/sex metadata, unavoidable resolution down‑sampling, and limited external validation—highlight the need for broader, demographically rich datasets and prospective multi‑site studies.</a:t>
            </a:r>
          </a:p>
          <a:p>
            <a:pPr defTabSz="914400" eaLnBrk="0" fontAlgn="base" hangingPunct="0">
              <a:lnSpc>
                <a:spcPct val="150000"/>
              </a:lnSpc>
              <a:spcBef>
                <a:spcPct val="0"/>
              </a:spcBef>
              <a:spcAft>
                <a:spcPct val="0"/>
              </a:spcAft>
            </a:pPr>
            <a:r>
              <a:rPr kumimoji="0" lang="en-US" altLang="en-US" sz="1200" b="0" i="0" u="none" strike="noStrike" cap="none" normalizeH="0" baseline="0" dirty="0">
                <a:ln>
                  <a:noFill/>
                </a:ln>
                <a:solidFill>
                  <a:schemeClr val="tx1"/>
                </a:solidFill>
                <a:effectLst/>
                <a:latin typeface="Arial" panose="020B0604020202020204" pitchFamily="34" charset="0"/>
              </a:rPr>
              <a:t>Next steps include adding multi‑label outputs (e.g., pleural effusion, pneumothorax), training with federated‑learning protocols to preserve privacy, and testing the pipeline on institution‑specific scans to ensure </a:t>
            </a:r>
            <a:r>
              <a:rPr kumimoji="0" lang="en-US" altLang="en-US" sz="1200" b="0" i="0" u="none" strike="noStrike" cap="none" normalizeH="0" baseline="0" dirty="0" err="1">
                <a:ln>
                  <a:noFill/>
                </a:ln>
                <a:solidFill>
                  <a:schemeClr val="tx1"/>
                </a:solidFill>
                <a:effectLst/>
                <a:latin typeface="Arial" panose="020B0604020202020204" pitchFamily="34" charset="0"/>
              </a:rPr>
              <a:t>generalisability</a:t>
            </a:r>
            <a:r>
              <a:rPr kumimoji="0" lang="en-US" altLang="en-US" sz="1200" b="0" i="0" u="none" strike="noStrike" cap="none" normalizeH="0" baseline="0" dirty="0">
                <a:ln>
                  <a:noFill/>
                </a:ln>
                <a:solidFill>
                  <a:schemeClr val="tx1"/>
                </a:solidFill>
                <a:effectLst/>
                <a:latin typeface="Arial" panose="020B0604020202020204" pitchFamily="34" charset="0"/>
              </a:rPr>
              <a:t> before clinical deployment.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 (Key)</a:t>
            </a:r>
          </a:p>
        </p:txBody>
      </p:sp>
      <p:sp>
        <p:nvSpPr>
          <p:cNvPr id="3" name="Content Placeholder 2"/>
          <p:cNvSpPr>
            <a:spLocks noGrp="1"/>
          </p:cNvSpPr>
          <p:nvPr>
            <p:ph idx="1"/>
          </p:nvPr>
        </p:nvSpPr>
        <p:spPr/>
        <p:txBody>
          <a:bodyPr/>
          <a:lstStyle/>
          <a:p>
            <a:pPr>
              <a:defRPr sz="1800"/>
            </a:pPr>
            <a:r>
              <a:t>He et al., 2016 – ResNet.</a:t>
            </a:r>
          </a:p>
          <a:p>
            <a:pPr>
              <a:defRPr sz="1800"/>
            </a:pPr>
            <a:r>
              <a:t>Radford et al., 2016 – DCGAN.</a:t>
            </a:r>
          </a:p>
          <a:p>
            <a:pPr>
              <a:defRPr sz="1800"/>
            </a:pPr>
            <a:r>
              <a:t>Selvaraju et al., 2017 – Grad‑CAM.</a:t>
            </a:r>
          </a:p>
          <a:p>
            <a:pPr>
              <a:defRPr sz="1800"/>
            </a:pPr>
            <a:r>
              <a:t>Rajpurkar et al., 2017 – CheXNet.</a:t>
            </a:r>
          </a:p>
          <a:p>
            <a:pPr>
              <a:defRPr sz="1800"/>
            </a:pPr>
            <a:r>
              <a:t>Kermany et al., 2018 –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1815</Words>
  <Application>Microsoft Office PowerPoint</Application>
  <PresentationFormat>On-screen Show (4:3)</PresentationFormat>
  <Paragraphs>71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Deep‑Learning‑Driven Pneumonia Detection and Explainability</vt:lpstr>
      <vt:lpstr>Table of Contents</vt:lpstr>
      <vt:lpstr>Abstract</vt:lpstr>
      <vt:lpstr>Problem Statement</vt:lpstr>
      <vt:lpstr>Introduction</vt:lpstr>
      <vt:lpstr>Description of Dataset</vt:lpstr>
      <vt:lpstr>Exploratory Data Analysis</vt:lpstr>
      <vt:lpstr>Models Used</vt:lpstr>
      <vt:lpstr>Outputs &amp; Evaluation</vt:lpstr>
      <vt:lpstr>Conclusion</vt:lpstr>
      <vt:lpstr>References (Key)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Tadumudupula Nikhitha</cp:lastModifiedBy>
  <cp:revision>2</cp:revision>
  <dcterms:created xsi:type="dcterms:W3CDTF">2013-01-27T09:14:16Z</dcterms:created>
  <dcterms:modified xsi:type="dcterms:W3CDTF">2025-04-16T13:41:36Z</dcterms:modified>
  <cp:category/>
</cp:coreProperties>
</file>